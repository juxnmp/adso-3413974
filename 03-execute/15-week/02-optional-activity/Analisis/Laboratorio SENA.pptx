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741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4297680"/>
            <a:ext cx="502920" cy="502920"/>
          </a:xfrm>
          <a:prstGeom prst="rect">
            <a:avLst/>
          </a:prstGeom>
        </p:spPr>
      </p:pic>
      <p:pic>
        <p:nvPicPr>
          <p:cNvPr id="3" name="Image 1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537192" y="4297680"/>
            <a:ext cx="502920" cy="502920"/>
          </a:xfrm>
          <a:prstGeom prst="rect">
            <a:avLst/>
          </a:prstGeom>
        </p:spPr>
      </p:pic>
      <p:pic>
        <p:nvPicPr>
          <p:cNvPr id="4" name="Image 2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204704" y="4297680"/>
            <a:ext cx="502920" cy="502920"/>
          </a:xfrm>
          <a:prstGeom prst="rect">
            <a:avLst/>
          </a:prstGeom>
        </p:spPr>
      </p:pic>
      <p:pic>
        <p:nvPicPr>
          <p:cNvPr id="5" name="Image 3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872216" y="4297680"/>
            <a:ext cx="502920" cy="502920"/>
          </a:xfrm>
          <a:prstGeom prst="rect">
            <a:avLst/>
          </a:prstGeom>
        </p:spPr>
      </p:pic>
      <p:pic>
        <p:nvPicPr>
          <p:cNvPr id="6" name="Image 4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4965192"/>
            <a:ext cx="502920" cy="502920"/>
          </a:xfrm>
          <a:prstGeom prst="rect">
            <a:avLst/>
          </a:prstGeom>
        </p:spPr>
      </p:pic>
      <p:pic>
        <p:nvPicPr>
          <p:cNvPr id="7" name="Image 5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537192" y="4965192"/>
            <a:ext cx="502920" cy="502920"/>
          </a:xfrm>
          <a:prstGeom prst="rect">
            <a:avLst/>
          </a:prstGeom>
        </p:spPr>
      </p:pic>
      <p:pic>
        <p:nvPicPr>
          <p:cNvPr id="8" name="Image 6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204704" y="4965192"/>
            <a:ext cx="502920" cy="502920"/>
          </a:xfrm>
          <a:prstGeom prst="rect">
            <a:avLst/>
          </a:prstGeom>
        </p:spPr>
      </p:pic>
      <p:pic>
        <p:nvPicPr>
          <p:cNvPr id="9" name="Image 7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872216" y="4965192"/>
            <a:ext cx="502920" cy="502920"/>
          </a:xfrm>
          <a:prstGeom prst="rect">
            <a:avLst/>
          </a:prstGeom>
        </p:spPr>
      </p:pic>
      <p:pic>
        <p:nvPicPr>
          <p:cNvPr id="10" name="Image 8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5632704"/>
            <a:ext cx="502920" cy="502920"/>
          </a:xfrm>
          <a:prstGeom prst="rect">
            <a:avLst/>
          </a:prstGeom>
        </p:spPr>
      </p:pic>
      <p:pic>
        <p:nvPicPr>
          <p:cNvPr id="11" name="Image 9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537192" y="5632704"/>
            <a:ext cx="502920" cy="502920"/>
          </a:xfrm>
          <a:prstGeom prst="rect">
            <a:avLst/>
          </a:prstGeom>
        </p:spPr>
      </p:pic>
      <p:pic>
        <p:nvPicPr>
          <p:cNvPr id="12" name="Image 10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204704" y="5632704"/>
            <a:ext cx="502920" cy="502920"/>
          </a:xfrm>
          <a:prstGeom prst="rect">
            <a:avLst/>
          </a:prstGeom>
        </p:spPr>
      </p:pic>
      <p:pic>
        <p:nvPicPr>
          <p:cNvPr id="13" name="Image 11" descr="./icons/folder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872216" y="5632704"/>
            <a:ext cx="502920" cy="50292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PROYECTO</a:t>
            </a:r>
            <a:endParaRPr lang="en-US" sz="1400" dirty="0"/>
          </a:p>
        </p:txBody>
      </p:sp>
      <p:sp>
        <p:nvSpPr>
          <p:cNvPr id="15" name="Text 1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 SENA</a:t>
            </a:r>
            <a:endParaRPr lang="en-US" sz="5000" dirty="0"/>
          </a:p>
        </p:txBody>
      </p:sp>
      <p:sp>
        <p:nvSpPr>
          <p:cNvPr id="16" name="Text 2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la estructura documental del proyecto Horarios SENA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82296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secciones · 1 repositorio Git · fuente única de verdad</a:t>
            </a:r>
            <a:endParaRPr lang="en-US" sz="1300" dirty="0"/>
          </a:p>
        </p:txBody>
      </p:sp>
      <p:sp>
        <p:nvSpPr>
          <p:cNvPr id="18" name="Text 4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este repositorio?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repositorio de documentación del proyecto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SENA</a:t>
            </a: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(sistema de gestión de fichas, jornadas, instructores y aprendices).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contiene código fuente: </a:t>
            </a: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fuente de verdad documental del equipo. Todo cambio pasa por rama, Pull Request y revisión — nunca se edita directo sobre dev, qa o main.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organizado en 17 secciones numeradas (00 a 99), cada una con su propio README como índice, cubriendo desde el contexto de negocio hasta operaciones y capacitación.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040880" y="164592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AF3EE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040880" y="18105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17804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numeradas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0" y="164592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AF3EE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601200" y="18105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73836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.md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361188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AF3EE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040880" y="37764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178040" y="4663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principales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0" y="361188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AF3EE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601200" y="37764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738360" y="4663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en Git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fases, diecisiete secciones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B4332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F77F0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.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00–04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54480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Gobierno, contexto, dominio, producto y requisitos del proyecto.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2D6A4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6446520" y="1874520"/>
            <a:ext cx="566928" cy="566928"/>
          </a:xfrm>
          <a:prstGeom prst="ellipse">
            <a:avLst/>
          </a:prstGeom>
          <a:solidFill>
            <a:srgbClr val="F77F0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1" descr="./icons/draft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921" y="20219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56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05–09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178040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técnico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446520" y="27432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datos, API, diagramas UML y microservicios.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40826D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F77F0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2" descr="./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26220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0965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554480" y="43342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 y calidad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22960" y="49834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testing, diseño UX/UI y operaciones del sistema.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38404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2F5D50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8"/>
          <p:cNvSpPr/>
          <p:nvPr/>
        </p:nvSpPr>
        <p:spPr>
          <a:xfrm>
            <a:off x="6446520" y="4114800"/>
            <a:ext cx="566928" cy="566928"/>
          </a:xfrm>
          <a:prstGeom prst="ellipse">
            <a:avLst/>
          </a:prstGeom>
          <a:solidFill>
            <a:srgbClr val="F77F0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4" name="Image 3" descr="./icons/archi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921" y="426220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40965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14–99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178040" y="43342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control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6446520" y="49834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Capacitación, control de proyecto y archivo histórico.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CARPETAS 00–04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.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8105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550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2938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repositorio: convenciones Git, seguridad, naming, Definition of Ready/Done.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./icons/compas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70662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55117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282549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institucional, alcance del proyecto y glosario (Ficha, Jornada, Instructor, Aprendiz).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./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60273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44728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372160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dominio: mapa de entidades, reglas de negocio e invariantes, eventos.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./icons/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49884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43434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70432" y="461772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producto, roadmap y backlog priorizado.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4" descr=".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39496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523951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70432" y="5513832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y no funcionales, historias de usuario, matriz de trazabilidad.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CARPETAS 05–09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técnico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./icons/draft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8105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550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192938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arquitectura, decisiones técnicas (ADRs), aspectos transversales y despliegue.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.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70662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55117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282549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de datos, modelos y estrategia de migración.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./icons/plu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60273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44728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372160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Guidelines, autenticación y contratos OpenAPI.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./icons/diagra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49884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43434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70432" y="461772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con fuente editable y exportaciones.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2D6A4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4" descr="./icons/cub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39496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523951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70432" y="5513832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servicios y plantilla estándar para documentar cada uno.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CARPETAS 10–13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 y calidad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40826D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.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74650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202082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local, integración continua (CI/CD) y configuración de ambientes.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40826D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.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535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7980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07238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testing y proceso de code review.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40826D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./icons/palet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0050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84962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ux-ui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12394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system, mapa de navegación y wireframes.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40826D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./icons/heartbea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05663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490118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70432" y="517550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Observabilidad, gestión de incidentes y respaldo/recuperación de datos.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CARPETAS 14–15, 99 Y ASSETS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F5D5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./icons/chalk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019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74650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70432" y="202082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de usuario, de administrador y onboarding técnico.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F5D5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./icons/task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535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7980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project-control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70432" y="307238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técnico, riesgos, dependencias y preguntas abiertas.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2F5D5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./icons/archiv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0050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84962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70432" y="412394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deprecados y decisiones antiguas; se conserva el historial, no se elimina.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2F5D5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7" name="Image 3" descr="./icons/box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05663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490118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70432" y="517550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para diagramas, imágenes y logos del proyecto.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DOCUMENTAL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clave que rigen el repositorio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./icons/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1424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trabaja directo sobre dev, qa o main: todo cambio va por rama y Pull Request.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645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" name="Image 1" descr="./icons/pensqua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21424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1051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en kebab-case.md; cada carpeta tiene su propio README como índice.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9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4" name="Image 2" descr="./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37883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45643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 publicar credenciales, tokens, llaves o datos sensibles.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6400800" y="3657600"/>
            <a:ext cx="502920" cy="50292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3" descr="./icons/filesi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559" y="378835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345643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de arquitectura (ADRs) se registran y nunca se eliminan.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9377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5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2" name="Image 4" descr="./icons/ba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99" y="5434279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10235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crean carpetas de microservicio hasta que el servicio exista en código.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172200" y="49377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18"/>
          <p:cNvSpPr/>
          <p:nvPr/>
        </p:nvSpPr>
        <p:spPr>
          <a:xfrm>
            <a:off x="6400800" y="5303520"/>
            <a:ext cx="502920" cy="502920"/>
          </a:xfrm>
          <a:prstGeom prst="ellipse">
            <a:avLst/>
          </a:prstGeom>
          <a:solidFill>
            <a:srgbClr val="1B433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6" name="Image 5" descr="./icons/user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1559" y="543427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5102352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en inglés siguiendo el estándar Conventional Commits.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contenido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es, hoy, principalmente un esqueleto: la estructura y las reglas están definidas, pero la mayoría de los documentos de contenido aún no se ha escrito.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.md totales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3317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51960" y="24414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3484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marcados como 🔴 Pendiente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EAF3EE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955280" y="24414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3816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contenido sustancial escrito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00-governance y los archivos raíz (README, CONTRIBUTING, CHANGELOG) tienen contenido real escrito. El resto está listo para completarse.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56048"/>
            <a:ext cx="164592" cy="164592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54680" y="4956048"/>
            <a:ext cx="164592" cy="164592"/>
          </a:xfrm>
          <a:prstGeom prst="ellipse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429000" y="4892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60720" y="4956048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035040" y="4892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66760" y="4956048"/>
            <a:ext cx="164592" cy="164592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641080" y="4892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contribución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661160" cy="2286000"/>
          </a:xfrm>
          <a:prstGeom prst="roundRect">
            <a:avLst>
              <a:gd name="adj" fmla="val 4404"/>
            </a:avLst>
          </a:prstGeom>
          <a:solidFill>
            <a:srgbClr val="1B433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1661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3474720"/>
            <a:ext cx="1441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escritura + Git configurado</a:t>
            </a:r>
            <a:endParaRPr lang="en-US" sz="1000" dirty="0"/>
          </a:p>
        </p:txBody>
      </p:sp>
      <p:pic>
        <p:nvPicPr>
          <p:cNvPr id="8" name="Image 0" descr="./icons/arrow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092" y="3236976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74392" y="2194560"/>
            <a:ext cx="1661160" cy="2286000"/>
          </a:xfrm>
          <a:prstGeom prst="roundRect">
            <a:avLst>
              <a:gd name="adj" fmla="val 4404"/>
            </a:avLst>
          </a:prstGeom>
          <a:solidFill>
            <a:srgbClr val="2D6A4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2374392" y="2359152"/>
            <a:ext cx="1661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65832" y="297180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rama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484120" y="3474720"/>
            <a:ext cx="1441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feat/docs/... según convención</a:t>
            </a:r>
            <a:endParaRPr lang="en-US" sz="1000" dirty="0"/>
          </a:p>
        </p:txBody>
      </p:sp>
      <p:pic>
        <p:nvPicPr>
          <p:cNvPr id="13" name="Image 1" descr="./icons/arrow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844" y="3236976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00144" y="2194560"/>
            <a:ext cx="1661160" cy="2286000"/>
          </a:xfrm>
          <a:prstGeom prst="roundRect">
            <a:avLst>
              <a:gd name="adj" fmla="val 4404"/>
            </a:avLst>
          </a:prstGeom>
          <a:solidFill>
            <a:srgbClr val="1B433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4200144" y="2359152"/>
            <a:ext cx="1661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291584" y="297180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/ crear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309872" y="3474720"/>
            <a:ext cx="1441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mínima + estado + fecha</a:t>
            </a:r>
            <a:endParaRPr lang="en-US" sz="1000" dirty="0"/>
          </a:p>
        </p:txBody>
      </p:sp>
      <p:pic>
        <p:nvPicPr>
          <p:cNvPr id="18" name="Image 2" descr="./icons/arrow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596" y="3236976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025896" y="2194560"/>
            <a:ext cx="1661160" cy="2286000"/>
          </a:xfrm>
          <a:prstGeom prst="roundRect">
            <a:avLst>
              <a:gd name="adj" fmla="val 4404"/>
            </a:avLst>
          </a:prstGeom>
          <a:solidFill>
            <a:srgbClr val="2D6A4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5"/>
          <p:cNvSpPr/>
          <p:nvPr/>
        </p:nvSpPr>
        <p:spPr>
          <a:xfrm>
            <a:off x="6025896" y="2359152"/>
            <a:ext cx="1661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117336" y="297180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135624" y="3474720"/>
            <a:ext cx="1441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Enlazar en el README de la sección</a:t>
            </a:r>
            <a:endParaRPr lang="en-US" sz="1000" dirty="0"/>
          </a:p>
        </p:txBody>
      </p:sp>
      <p:pic>
        <p:nvPicPr>
          <p:cNvPr id="23" name="Image 3" descr="./icons/arrow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348" y="3236976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851648" y="2194560"/>
            <a:ext cx="1661160" cy="2286000"/>
          </a:xfrm>
          <a:prstGeom prst="roundRect">
            <a:avLst>
              <a:gd name="adj" fmla="val 4404"/>
            </a:avLst>
          </a:prstGeom>
          <a:solidFill>
            <a:srgbClr val="1B433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7851648" y="2359152"/>
            <a:ext cx="1661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943088" y="297180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961376" y="3474720"/>
            <a:ext cx="1441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Commits, en inglés</a:t>
            </a:r>
            <a:endParaRPr lang="en-US" sz="1000" dirty="0"/>
          </a:p>
        </p:txBody>
      </p:sp>
      <p:pic>
        <p:nvPicPr>
          <p:cNvPr id="28" name="Image 4" descr="./icons/arrow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100" y="3236976"/>
            <a:ext cx="201168" cy="201168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677400" y="2194560"/>
            <a:ext cx="1661160" cy="2286000"/>
          </a:xfrm>
          <a:prstGeom prst="roundRect">
            <a:avLst>
              <a:gd name="adj" fmla="val 4404"/>
            </a:avLst>
          </a:prstGeom>
          <a:solidFill>
            <a:srgbClr val="2D6A4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Text 23"/>
          <p:cNvSpPr/>
          <p:nvPr/>
        </p:nvSpPr>
        <p:spPr>
          <a:xfrm>
            <a:off x="9677400" y="2359152"/>
            <a:ext cx="1661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9768840" y="2971800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787128" y="3474720"/>
            <a:ext cx="1441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+ revisión del equipo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48640" y="4892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 el PR: cumple Definition of Ready, no expone secretos, y el CHANGELOG queda actualizado si el cambio afecta a varios equipos.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dónde empezar a llenar la documentación?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F77F0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.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2795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103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primero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4231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01-context, 02-domain, 03-product y 04-requirements: definen qué se construye y para quién.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F77F0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.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42259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46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5661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con 05-architecture, 06-data y 07-api antes de avanzar a UML y microservicios.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77F0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2" descr="./icons/arr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456559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389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cierre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7091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DevOps, calidad y operaciones a medida que el sistema avance hacia producción.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830</Words>
  <Application>Microsoft Office PowerPoint</Application>
  <PresentationFormat>Panorámica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Documentación del proyecto Horarios SENA</dc:title>
  <dc:subject>PptxGenJS Presentation</dc:subject>
  <dc:creator>Laboratorio SENA</dc:creator>
  <cp:lastModifiedBy>99A_10104118905</cp:lastModifiedBy>
  <cp:revision>2</cp:revision>
  <dcterms:created xsi:type="dcterms:W3CDTF">2026-06-20T14:49:46Z</dcterms:created>
  <dcterms:modified xsi:type="dcterms:W3CDTF">2026-07-04T12:35:43Z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2026-07-04T12:31:18Z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b3bdeb89-093d-4093-9cf5-25e0f600256b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